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Trispace"/>
      <p:regular r:id="rId24"/>
      <p:bold r:id="rId25"/>
    </p:embeddedFont>
    <p:embeddedFont>
      <p:font typeface="Bebas Neue"/>
      <p:regular r:id="rId26"/>
    </p:embeddedFont>
    <p:embeddedFont>
      <p:font typeface="Maven Pro"/>
      <p:regular r:id="rId27"/>
      <p:bold r:id="rId28"/>
    </p:embeddedFont>
    <p:embeddedFont>
      <p:font typeface="PT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395C73-8BB8-4FFA-9A36-212B4FC435B5}">
  <a:tblStyle styleId="{C9395C73-8BB8-4FFA-9A36-212B4FC435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247D76C-263D-48BC-8304-A122773D84A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Trispace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ebasNeue-regular.fntdata"/><Relationship Id="rId25" Type="http://schemas.openxmlformats.org/officeDocument/2006/relationships/font" Target="fonts/Trispace-bold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27c793fce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27c793fc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3e6b3ce6a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3e6b3ce6a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99f2f57a71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99f2f57a71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bd6c00e73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bd6c00e73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99f2f57a7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99f2f57a7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2b5859bcbd_0_17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2b5859bcbd_0_17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(High BLEU):</a:t>
            </a:r>
            <a:r>
              <a:rPr lang="en">
                <a:solidFill>
                  <a:schemeClr val="dk1"/>
                </a:solidFill>
              </a:rPr>
              <a:t> The BLEU score of </a:t>
            </a:r>
            <a:r>
              <a:rPr b="1" lang="en">
                <a:solidFill>
                  <a:schemeClr val="dk1"/>
                </a:solidFill>
              </a:rPr>
              <a:t>26.57</a:t>
            </a:r>
            <a:r>
              <a:rPr lang="en">
                <a:solidFill>
                  <a:schemeClr val="dk1"/>
                </a:solidFill>
              </a:rPr>
              <a:t> confirms that BART successfully generates grammatically correct, fluent, and human-like sentences. This meets BART's primary strength.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Low Factual Overlap (ROUGE &amp; BERTScore):</a:t>
            </a:r>
            <a:r>
              <a:rPr lang="en">
                <a:solidFill>
                  <a:schemeClr val="dk1"/>
                </a:solidFill>
              </a:rPr>
              <a:t> The scores for ROUGE (content overlap) and BERTScore (semantic similarity) are the lowest of all models in the project.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8cad18de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98cad18de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8cad18de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8cad18de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3e6b3ce6a0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3e6b3ce6a0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99f2f57a7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99f2f57a7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195b7a3d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195b7a3d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195b7a3d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195b7a3d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5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11" name="Google Shape;311;p25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12" name="Google Shape;312;p25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13" name="Google Shape;313;p25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14" name="Google Shape;314;p25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rect b="b" l="l" r="r" t="t"/>
                    <a:pathLst>
                      <a:path extrusionOk="0" h="207" w="14078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25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rect b="b" l="l" r="r" t="t"/>
                    <a:pathLst>
                      <a:path extrusionOk="0" h="11197" w="2010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16" name="Google Shape;316;p25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17" name="Google Shape;317;p25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rect b="b" l="l" r="r" t="t"/>
                      <a:pathLst>
                        <a:path extrusionOk="0" h="2722" w="2785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8" name="Google Shape;318;p25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rect b="b" l="l" r="r" t="t"/>
                      <a:pathLst>
                        <a:path extrusionOk="0" h="1937" w="1981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9" name="Google Shape;319;p25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0" name="Google Shape;320;p25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1" name="Google Shape;321;p25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2" name="Google Shape;322;p25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3" name="Google Shape;323;p25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4" name="Google Shape;324;p25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rect b="b" l="l" r="r" t="t"/>
                      <a:pathLst>
                        <a:path extrusionOk="0" h="1794" w="1482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5" name="Google Shape;325;p25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rect b="b" l="l" r="r" t="t"/>
                      <a:pathLst>
                        <a:path extrusionOk="0" h="1412" w="599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6" name="Google Shape;326;p25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rect b="b" l="l" r="r" t="t"/>
                      <a:pathLst>
                        <a:path extrusionOk="0" h="367" w="885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7" name="Google Shape;327;p25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8" name="Google Shape;328;p25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9" name="Google Shape;329;p25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0" name="Google Shape;330;p25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" name="Google Shape;331;p25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rect b="b" l="l" r="r" t="t"/>
                      <a:pathLst>
                        <a:path extrusionOk="0" h="1797" w="1482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2" name="Google Shape;332;p25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rect b="b" l="l" r="r" t="t"/>
                      <a:pathLst>
                        <a:path extrusionOk="0" h="1412" w="598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3" name="Google Shape;333;p25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4" name="Google Shape;334;p25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5" name="Google Shape;335;p25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rect b="b" l="l" r="r" t="t"/>
                      <a:pathLst>
                        <a:path extrusionOk="0" h="367" w="884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6" name="Google Shape;336;p25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37" name="Google Shape;337;p25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rect b="b" l="l" r="r" t="t"/>
                    <a:pathLst>
                      <a:path extrusionOk="0" h="4301" w="6835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rotWithShape="0" algn="bl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25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rect b="b" l="l" r="r" t="t"/>
                    <a:pathLst>
                      <a:path extrusionOk="0" h="322" w="116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" name="Google Shape;339;p25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rect b="b" l="l" r="r" t="t"/>
                    <a:pathLst>
                      <a:path extrusionOk="0" h="2409" w="6843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5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rect b="b" l="l" r="r" t="t"/>
                    <a:pathLst>
                      <a:path extrusionOk="0" h="1161" w="1714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5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5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5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25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5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5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5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5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5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0" name="Google Shape;350;p25"/>
              <p:cNvGrpSpPr/>
              <p:nvPr/>
            </p:nvGrpSpPr>
            <p:grpSpPr>
              <a:xfrm flipH="1" rot="-2979843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51" name="Google Shape;351;p25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5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53" name="Google Shape;353;p25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rect b="b" l="l" r="r" t="t"/>
              <a:pathLst>
                <a:path extrusionOk="0" h="1161" w="1714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 flipH="1" rot="7930158">
              <a:off x="7532339" y="1461822"/>
              <a:ext cx="162646" cy="45148"/>
            </a:xfrm>
            <a:custGeom>
              <a:rect b="b" l="l" r="r" t="t"/>
              <a:pathLst>
                <a:path extrusionOk="0" h="322" w="116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5"/>
          <p:cNvSpPr txBox="1"/>
          <p:nvPr>
            <p:ph type="ctrTitle"/>
          </p:nvPr>
        </p:nvSpPr>
        <p:spPr>
          <a:xfrm>
            <a:off x="1007425" y="819225"/>
            <a:ext cx="52353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Legal Document Summarization </a:t>
            </a:r>
            <a:r>
              <a:rPr lang="en" sz="4000"/>
              <a:t>using Transformers</a:t>
            </a:r>
            <a:endParaRPr sz="4000"/>
          </a:p>
        </p:txBody>
      </p:sp>
      <p:sp>
        <p:nvSpPr>
          <p:cNvPr id="356" name="Google Shape;356;p25"/>
          <p:cNvSpPr txBox="1"/>
          <p:nvPr>
            <p:ph idx="1" type="subTitle"/>
          </p:nvPr>
        </p:nvSpPr>
        <p:spPr>
          <a:xfrm>
            <a:off x="3073300" y="3579825"/>
            <a:ext cx="2664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25GK24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Ritu Kumari 2301CS75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Pragya Mahajan 2302CS05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latin typeface="Arial"/>
                <a:ea typeface="Arial"/>
                <a:cs typeface="Arial"/>
                <a:sym typeface="Arial"/>
              </a:rPr>
              <a:t>Parul Shrivastava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2301CS74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Roles &amp; Responsibilities</a:t>
            </a:r>
            <a:endParaRPr/>
          </a:p>
        </p:txBody>
      </p:sp>
      <p:graphicFrame>
        <p:nvGraphicFramePr>
          <p:cNvPr id="362" name="Google Shape;362;p26"/>
          <p:cNvGraphicFramePr/>
          <p:nvPr/>
        </p:nvGraphicFramePr>
        <p:xfrm>
          <a:off x="608763" y="1654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{C9395C73-8BB8-4FFA-9A36-212B4FC435B5}</a:tableStyleId>
              </a:tblPr>
              <a:tblGrid>
                <a:gridCol w="2639325"/>
                <a:gridCol w="5287150"/>
              </a:tblGrid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Trispace"/>
                          <a:ea typeface="Trispace"/>
                          <a:cs typeface="Trispace"/>
                          <a:sym typeface="Trispace"/>
                        </a:rPr>
                        <a:t>Name </a:t>
                      </a:r>
                      <a:endParaRPr b="1" sz="1000">
                        <a:solidFill>
                          <a:schemeClr val="dk2"/>
                        </a:solidFill>
                        <a:latin typeface="Trispace"/>
                        <a:ea typeface="Trispace"/>
                        <a:cs typeface="Trispace"/>
                        <a:sym typeface="Trispac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Role and Responsibilities</a:t>
                      </a:r>
                      <a:endParaRPr b="1" sz="100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Trispace"/>
                          <a:ea typeface="Trispace"/>
                          <a:cs typeface="Trispace"/>
                          <a:sym typeface="Trispace"/>
                        </a:rPr>
                        <a:t>Ritu Kumari Singh </a:t>
                      </a:r>
                      <a:endParaRPr b="1" sz="1000">
                        <a:solidFill>
                          <a:schemeClr val="dk2"/>
                        </a:solidFill>
                        <a:latin typeface="Trispace"/>
                        <a:ea typeface="Trispace"/>
                        <a:cs typeface="Trispace"/>
                        <a:sym typeface="Trispac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Preprocessing Lead</a:t>
                      </a:r>
                      <a:endParaRPr sz="1000" u="sng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Responsible for dataset selection, cleaning, tokenization, and visualization. </a:t>
                      </a:r>
                      <a:endParaRPr sz="100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Trispace"/>
                          <a:ea typeface="Trispace"/>
                          <a:cs typeface="Trispace"/>
                          <a:sym typeface="Trispace"/>
                        </a:rPr>
                        <a:t>Pragya Mahajan</a:t>
                      </a:r>
                      <a:endParaRPr b="1" sz="1000">
                        <a:solidFill>
                          <a:schemeClr val="dk2"/>
                        </a:solidFill>
                        <a:latin typeface="Trispace"/>
                        <a:ea typeface="Trispace"/>
                        <a:cs typeface="Trispace"/>
                        <a:sym typeface="Trispac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Modeling Lead &amp; Research Specialist</a:t>
                      </a:r>
                      <a:endParaRPr sz="1000" u="sng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Responsible for the literature review, implementing the baseline summarization pipeline, and fine-tuning models.</a:t>
                      </a:r>
                      <a:endParaRPr sz="100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Trispace"/>
                          <a:ea typeface="Trispace"/>
                          <a:cs typeface="Trispace"/>
                          <a:sym typeface="Trispace"/>
                        </a:rPr>
                        <a:t>Parul Shrivastava</a:t>
                      </a:r>
                      <a:endParaRPr b="1" sz="1000">
                        <a:solidFill>
                          <a:schemeClr val="dk2"/>
                        </a:solidFill>
                        <a:latin typeface="Trispace"/>
                        <a:ea typeface="Trispace"/>
                        <a:cs typeface="Trispace"/>
                        <a:sym typeface="Trispac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Training &amp; Evaluation Lead</a:t>
                      </a:r>
                      <a:endParaRPr sz="1000" u="sng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Responsible for developing the hybrid model, evaluating performance, and documenting results. </a:t>
                      </a:r>
                      <a:endParaRPr sz="100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68" name="Google Shape;368;p27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legal domain is defined by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lengthy and complex documents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This complexity makes manual analysis 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time-consuming, expensive and inefficient process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for legal professionals and the public, leading to significant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information overload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69" name="Google Shape;369;p27"/>
          <p:cNvSpPr txBox="1"/>
          <p:nvPr>
            <p:ph idx="2" type="subTitle"/>
          </p:nvPr>
        </p:nvSpPr>
        <p:spPr>
          <a:xfrm>
            <a:off x="3374723" y="2824625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are driven by the need to create automated summarization systems that can produce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accurate, factually complete and concise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summaries of legal texts. Our work is a direct attempt to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overcome the established flaw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of information loss due to truncation in current models.</a:t>
            </a:r>
            <a:endParaRPr/>
          </a:p>
        </p:txBody>
      </p:sp>
      <p:sp>
        <p:nvSpPr>
          <p:cNvPr id="370" name="Google Shape;370;p27"/>
          <p:cNvSpPr txBox="1"/>
          <p:nvPr>
            <p:ph idx="3" type="subTitle"/>
          </p:nvPr>
        </p:nvSpPr>
        <p:spPr>
          <a:xfrm>
            <a:off x="5934900" y="2674275"/>
            <a:ext cx="26418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1. Establish Baseline: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Fine-tune BART on BillSum.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2. Develop Hybrid Model: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Engineer a two-stage Extractive-Abstractive pipeline.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3. Quantitative Evaluation: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ROUGE, BLEU, and BERTScore metrics.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7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</a:t>
            </a:r>
            <a:endParaRPr/>
          </a:p>
        </p:txBody>
      </p:sp>
      <p:sp>
        <p:nvSpPr>
          <p:cNvPr id="372" name="Google Shape;372;p27"/>
          <p:cNvSpPr txBox="1"/>
          <p:nvPr>
            <p:ph idx="5" type="subTitle"/>
          </p:nvPr>
        </p:nvSpPr>
        <p:spPr>
          <a:xfrm>
            <a:off x="3330182" y="2368638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</a:t>
            </a:r>
            <a:endParaRPr/>
          </a:p>
        </p:txBody>
      </p:sp>
      <p:sp>
        <p:nvSpPr>
          <p:cNvPr id="373" name="Google Shape;373;p27"/>
          <p:cNvSpPr txBox="1"/>
          <p:nvPr>
            <p:ph idx="6" type="subTitle"/>
          </p:nvPr>
        </p:nvSpPr>
        <p:spPr>
          <a:xfrm>
            <a:off x="5934864" y="2368650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973144" y="153005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3729594" y="155270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6213044" y="1553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5736947" y="796365"/>
            <a:ext cx="238346" cy="23837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27"/>
          <p:cNvGrpSpPr/>
          <p:nvPr/>
        </p:nvGrpSpPr>
        <p:grpSpPr>
          <a:xfrm>
            <a:off x="1251878" y="1837147"/>
            <a:ext cx="487449" cy="430700"/>
            <a:chOff x="2544378" y="1577035"/>
            <a:chExt cx="487449" cy="430700"/>
          </a:xfrm>
        </p:grpSpPr>
        <p:sp>
          <p:nvSpPr>
            <p:cNvPr id="379" name="Google Shape;379;p27"/>
            <p:cNvSpPr/>
            <p:nvPr/>
          </p:nvSpPr>
          <p:spPr>
            <a:xfrm>
              <a:off x="2690137" y="1664129"/>
              <a:ext cx="196889" cy="142048"/>
            </a:xfrm>
            <a:custGeom>
              <a:rect b="b" l="l" r="r" t="t"/>
              <a:pathLst>
                <a:path extrusionOk="0" h="1339" w="1856">
                  <a:moveTo>
                    <a:pt x="928" y="1071"/>
                  </a:moveTo>
                  <a:cubicBezTo>
                    <a:pt x="705" y="1071"/>
                    <a:pt x="518" y="892"/>
                    <a:pt x="518" y="669"/>
                  </a:cubicBezTo>
                  <a:cubicBezTo>
                    <a:pt x="518" y="446"/>
                    <a:pt x="705" y="268"/>
                    <a:pt x="928" y="268"/>
                  </a:cubicBezTo>
                  <a:cubicBezTo>
                    <a:pt x="1151" y="268"/>
                    <a:pt x="1329" y="446"/>
                    <a:pt x="1329" y="669"/>
                  </a:cubicBezTo>
                  <a:cubicBezTo>
                    <a:pt x="1329" y="892"/>
                    <a:pt x="1151" y="1071"/>
                    <a:pt x="928" y="1071"/>
                  </a:cubicBezTo>
                  <a:close/>
                  <a:moveTo>
                    <a:pt x="928" y="0"/>
                  </a:moveTo>
                  <a:cubicBezTo>
                    <a:pt x="384" y="0"/>
                    <a:pt x="81" y="500"/>
                    <a:pt x="0" y="669"/>
                  </a:cubicBezTo>
                  <a:cubicBezTo>
                    <a:pt x="36" y="740"/>
                    <a:pt x="107" y="865"/>
                    <a:pt x="214" y="990"/>
                  </a:cubicBezTo>
                  <a:cubicBezTo>
                    <a:pt x="420" y="1222"/>
                    <a:pt x="660" y="1338"/>
                    <a:pt x="928" y="1338"/>
                  </a:cubicBezTo>
                  <a:cubicBezTo>
                    <a:pt x="1463" y="1338"/>
                    <a:pt x="1767" y="839"/>
                    <a:pt x="1856" y="669"/>
                  </a:cubicBezTo>
                  <a:cubicBezTo>
                    <a:pt x="1820" y="598"/>
                    <a:pt x="1749" y="473"/>
                    <a:pt x="1633" y="348"/>
                  </a:cubicBezTo>
                  <a:cubicBezTo>
                    <a:pt x="1428" y="116"/>
                    <a:pt x="1187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2774367" y="1720884"/>
              <a:ext cx="28430" cy="28431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205" y="0"/>
                    <a:pt x="268" y="63"/>
                    <a:pt x="268" y="134"/>
                  </a:cubicBezTo>
                  <a:cubicBezTo>
                    <a:pt x="268" y="205"/>
                    <a:pt x="205" y="268"/>
                    <a:pt x="134" y="268"/>
                  </a:cubicBezTo>
                  <a:cubicBezTo>
                    <a:pt x="54" y="268"/>
                    <a:pt x="0" y="205"/>
                    <a:pt x="0" y="134"/>
                  </a:cubicBezTo>
                  <a:cubicBezTo>
                    <a:pt x="0" y="63"/>
                    <a:pt x="54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2544378" y="1577035"/>
              <a:ext cx="487449" cy="287809"/>
            </a:xfrm>
            <a:custGeom>
              <a:rect b="b" l="l" r="r" t="t"/>
              <a:pathLst>
                <a:path extrusionOk="0" h="2713" w="4595">
                  <a:moveTo>
                    <a:pt x="4051" y="830"/>
                  </a:moveTo>
                  <a:lnTo>
                    <a:pt x="3783" y="830"/>
                  </a:lnTo>
                  <a:lnTo>
                    <a:pt x="3783" y="562"/>
                  </a:lnTo>
                  <a:lnTo>
                    <a:pt x="4051" y="562"/>
                  </a:lnTo>
                  <a:close/>
                  <a:moveTo>
                    <a:pt x="4051" y="1365"/>
                  </a:moveTo>
                  <a:lnTo>
                    <a:pt x="3783" y="1365"/>
                  </a:lnTo>
                  <a:lnTo>
                    <a:pt x="3783" y="1098"/>
                  </a:lnTo>
                  <a:lnTo>
                    <a:pt x="4051" y="1098"/>
                  </a:lnTo>
                  <a:close/>
                  <a:moveTo>
                    <a:pt x="4051" y="1900"/>
                  </a:moveTo>
                  <a:lnTo>
                    <a:pt x="3783" y="1900"/>
                  </a:lnTo>
                  <a:lnTo>
                    <a:pt x="3783" y="1633"/>
                  </a:lnTo>
                  <a:lnTo>
                    <a:pt x="4051" y="1633"/>
                  </a:lnTo>
                  <a:close/>
                  <a:moveTo>
                    <a:pt x="4051" y="2445"/>
                  </a:moveTo>
                  <a:lnTo>
                    <a:pt x="3783" y="2445"/>
                  </a:lnTo>
                  <a:lnTo>
                    <a:pt x="3783" y="2177"/>
                  </a:lnTo>
                  <a:lnTo>
                    <a:pt x="4051" y="2177"/>
                  </a:lnTo>
                  <a:close/>
                  <a:moveTo>
                    <a:pt x="3497" y="1544"/>
                  </a:moveTo>
                  <a:cubicBezTo>
                    <a:pt x="3497" y="1553"/>
                    <a:pt x="3408" y="1767"/>
                    <a:pt x="3212" y="1981"/>
                  </a:cubicBezTo>
                  <a:cubicBezTo>
                    <a:pt x="2962" y="2275"/>
                    <a:pt x="2641" y="2436"/>
                    <a:pt x="2302" y="2436"/>
                  </a:cubicBezTo>
                  <a:cubicBezTo>
                    <a:pt x="1954" y="2436"/>
                    <a:pt x="1642" y="2275"/>
                    <a:pt x="1383" y="1981"/>
                  </a:cubicBezTo>
                  <a:cubicBezTo>
                    <a:pt x="1196" y="1767"/>
                    <a:pt x="1107" y="1553"/>
                    <a:pt x="1098" y="1544"/>
                  </a:cubicBezTo>
                  <a:lnTo>
                    <a:pt x="1080" y="1490"/>
                  </a:lnTo>
                  <a:lnTo>
                    <a:pt x="1098" y="1437"/>
                  </a:lnTo>
                  <a:cubicBezTo>
                    <a:pt x="1107" y="1428"/>
                    <a:pt x="1196" y="1214"/>
                    <a:pt x="1383" y="999"/>
                  </a:cubicBezTo>
                  <a:cubicBezTo>
                    <a:pt x="1642" y="705"/>
                    <a:pt x="1954" y="545"/>
                    <a:pt x="2302" y="545"/>
                  </a:cubicBezTo>
                  <a:cubicBezTo>
                    <a:pt x="2641" y="545"/>
                    <a:pt x="2962" y="705"/>
                    <a:pt x="3212" y="999"/>
                  </a:cubicBezTo>
                  <a:cubicBezTo>
                    <a:pt x="3408" y="1214"/>
                    <a:pt x="3497" y="1428"/>
                    <a:pt x="3497" y="1437"/>
                  </a:cubicBezTo>
                  <a:lnTo>
                    <a:pt x="3524" y="1490"/>
                  </a:lnTo>
                  <a:close/>
                  <a:moveTo>
                    <a:pt x="803" y="830"/>
                  </a:moveTo>
                  <a:lnTo>
                    <a:pt x="536" y="830"/>
                  </a:lnTo>
                  <a:lnTo>
                    <a:pt x="536" y="562"/>
                  </a:lnTo>
                  <a:lnTo>
                    <a:pt x="803" y="562"/>
                  </a:lnTo>
                  <a:close/>
                  <a:moveTo>
                    <a:pt x="803" y="1365"/>
                  </a:moveTo>
                  <a:lnTo>
                    <a:pt x="536" y="1365"/>
                  </a:lnTo>
                  <a:lnTo>
                    <a:pt x="536" y="1098"/>
                  </a:lnTo>
                  <a:lnTo>
                    <a:pt x="803" y="1098"/>
                  </a:lnTo>
                  <a:close/>
                  <a:moveTo>
                    <a:pt x="803" y="1900"/>
                  </a:moveTo>
                  <a:lnTo>
                    <a:pt x="536" y="1900"/>
                  </a:lnTo>
                  <a:lnTo>
                    <a:pt x="536" y="1633"/>
                  </a:lnTo>
                  <a:lnTo>
                    <a:pt x="803" y="1633"/>
                  </a:lnTo>
                  <a:close/>
                  <a:moveTo>
                    <a:pt x="803" y="2445"/>
                  </a:moveTo>
                  <a:lnTo>
                    <a:pt x="536" y="2445"/>
                  </a:lnTo>
                  <a:lnTo>
                    <a:pt x="536" y="2177"/>
                  </a:lnTo>
                  <a:lnTo>
                    <a:pt x="803" y="2177"/>
                  </a:lnTo>
                  <a:close/>
                  <a:moveTo>
                    <a:pt x="4595" y="0"/>
                  </a:moveTo>
                  <a:lnTo>
                    <a:pt x="0" y="0"/>
                  </a:lnTo>
                  <a:lnTo>
                    <a:pt x="0" y="2712"/>
                  </a:lnTo>
                  <a:lnTo>
                    <a:pt x="4595" y="27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2544378" y="1893057"/>
              <a:ext cx="487449" cy="114678"/>
            </a:xfrm>
            <a:custGeom>
              <a:rect b="b" l="l" r="r" t="t"/>
              <a:pathLst>
                <a:path extrusionOk="0" h="1081" w="4595">
                  <a:moveTo>
                    <a:pt x="0" y="1"/>
                  </a:moveTo>
                  <a:lnTo>
                    <a:pt x="0" y="536"/>
                  </a:lnTo>
                  <a:lnTo>
                    <a:pt x="1758" y="536"/>
                  </a:lnTo>
                  <a:lnTo>
                    <a:pt x="1758" y="813"/>
                  </a:lnTo>
                  <a:lnTo>
                    <a:pt x="536" y="813"/>
                  </a:lnTo>
                  <a:lnTo>
                    <a:pt x="536" y="1080"/>
                  </a:lnTo>
                  <a:lnTo>
                    <a:pt x="4051" y="1080"/>
                  </a:lnTo>
                  <a:lnTo>
                    <a:pt x="4051" y="813"/>
                  </a:lnTo>
                  <a:lnTo>
                    <a:pt x="2837" y="813"/>
                  </a:lnTo>
                  <a:lnTo>
                    <a:pt x="2837" y="536"/>
                  </a:lnTo>
                  <a:lnTo>
                    <a:pt x="4595" y="536"/>
                  </a:lnTo>
                  <a:lnTo>
                    <a:pt x="4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27"/>
          <p:cNvGrpSpPr/>
          <p:nvPr/>
        </p:nvGrpSpPr>
        <p:grpSpPr>
          <a:xfrm>
            <a:off x="4008270" y="1831417"/>
            <a:ext cx="487555" cy="487461"/>
            <a:chOff x="3257895" y="1548605"/>
            <a:chExt cx="487555" cy="487461"/>
          </a:xfrm>
        </p:grpSpPr>
        <p:sp>
          <p:nvSpPr>
            <p:cNvPr id="384" name="Google Shape;384;p27"/>
            <p:cNvSpPr/>
            <p:nvPr/>
          </p:nvSpPr>
          <p:spPr>
            <a:xfrm>
              <a:off x="3516314" y="1721839"/>
              <a:ext cx="43600" cy="141093"/>
            </a:xfrm>
            <a:custGeom>
              <a:rect b="b" l="l" r="r" t="t"/>
              <a:pathLst>
                <a:path extrusionOk="0" h="1330" w="411">
                  <a:moveTo>
                    <a:pt x="0" y="0"/>
                  </a:moveTo>
                  <a:lnTo>
                    <a:pt x="0" y="1329"/>
                  </a:lnTo>
                  <a:cubicBezTo>
                    <a:pt x="232" y="1267"/>
                    <a:pt x="411" y="1053"/>
                    <a:pt x="411" y="794"/>
                  </a:cubicBezTo>
                  <a:lnTo>
                    <a:pt x="411" y="527"/>
                  </a:lnTo>
                  <a:cubicBezTo>
                    <a:pt x="411" y="268"/>
                    <a:pt x="232" y="5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3443434" y="1721839"/>
              <a:ext cx="44555" cy="141093"/>
            </a:xfrm>
            <a:custGeom>
              <a:rect b="b" l="l" r="r" t="t"/>
              <a:pathLst>
                <a:path extrusionOk="0" h="1330" w="420">
                  <a:moveTo>
                    <a:pt x="420" y="0"/>
                  </a:moveTo>
                  <a:cubicBezTo>
                    <a:pt x="179" y="54"/>
                    <a:pt x="0" y="268"/>
                    <a:pt x="0" y="527"/>
                  </a:cubicBezTo>
                  <a:lnTo>
                    <a:pt x="0" y="794"/>
                  </a:lnTo>
                  <a:cubicBezTo>
                    <a:pt x="0" y="1053"/>
                    <a:pt x="179" y="1267"/>
                    <a:pt x="420" y="13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3372465" y="1662220"/>
              <a:ext cx="258417" cy="259378"/>
            </a:xfrm>
            <a:custGeom>
              <a:rect b="b" l="l" r="r" t="t"/>
              <a:pathLst>
                <a:path extrusionOk="0" h="2445" w="2436">
                  <a:moveTo>
                    <a:pt x="2034" y="1356"/>
                  </a:moveTo>
                  <a:cubicBezTo>
                    <a:pt x="2034" y="1820"/>
                    <a:pt x="1651" y="2186"/>
                    <a:pt x="1187" y="2177"/>
                  </a:cubicBezTo>
                  <a:cubicBezTo>
                    <a:pt x="750" y="2159"/>
                    <a:pt x="402" y="1784"/>
                    <a:pt x="402" y="1347"/>
                  </a:cubicBezTo>
                  <a:lnTo>
                    <a:pt x="402" y="1097"/>
                  </a:lnTo>
                  <a:cubicBezTo>
                    <a:pt x="402" y="660"/>
                    <a:pt x="750" y="286"/>
                    <a:pt x="1187" y="277"/>
                  </a:cubicBezTo>
                  <a:cubicBezTo>
                    <a:pt x="1651" y="259"/>
                    <a:pt x="2034" y="625"/>
                    <a:pt x="2034" y="1089"/>
                  </a:cubicBezTo>
                  <a:close/>
                  <a:moveTo>
                    <a:pt x="1222" y="0"/>
                  </a:moveTo>
                  <a:cubicBezTo>
                    <a:pt x="544" y="0"/>
                    <a:pt x="0" y="553"/>
                    <a:pt x="0" y="1222"/>
                  </a:cubicBezTo>
                  <a:cubicBezTo>
                    <a:pt x="0" y="1891"/>
                    <a:pt x="544" y="2445"/>
                    <a:pt x="1222" y="2445"/>
                  </a:cubicBezTo>
                  <a:cubicBezTo>
                    <a:pt x="1892" y="2445"/>
                    <a:pt x="2436" y="1891"/>
                    <a:pt x="2436" y="1222"/>
                  </a:cubicBezTo>
                  <a:cubicBezTo>
                    <a:pt x="2436" y="553"/>
                    <a:pt x="1892" y="0"/>
                    <a:pt x="1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3257895" y="1548605"/>
              <a:ext cx="487555" cy="487461"/>
            </a:xfrm>
            <a:custGeom>
              <a:rect b="b" l="l" r="r" t="t"/>
              <a:pathLst>
                <a:path extrusionOk="0" h="4595" w="4596">
                  <a:moveTo>
                    <a:pt x="2302" y="3783"/>
                  </a:moveTo>
                  <a:cubicBezTo>
                    <a:pt x="1482" y="3783"/>
                    <a:pt x="813" y="3114"/>
                    <a:pt x="813" y="2293"/>
                  </a:cubicBezTo>
                  <a:cubicBezTo>
                    <a:pt x="813" y="1473"/>
                    <a:pt x="1482" y="804"/>
                    <a:pt x="2302" y="804"/>
                  </a:cubicBezTo>
                  <a:cubicBezTo>
                    <a:pt x="3123" y="804"/>
                    <a:pt x="3783" y="1473"/>
                    <a:pt x="3783" y="2293"/>
                  </a:cubicBezTo>
                  <a:cubicBezTo>
                    <a:pt x="3783" y="3114"/>
                    <a:pt x="3123" y="3783"/>
                    <a:pt x="2302" y="3783"/>
                  </a:cubicBezTo>
                  <a:close/>
                  <a:moveTo>
                    <a:pt x="4595" y="2802"/>
                  </a:moveTo>
                  <a:lnTo>
                    <a:pt x="4595" y="1785"/>
                  </a:lnTo>
                  <a:lnTo>
                    <a:pt x="4238" y="1696"/>
                  </a:lnTo>
                  <a:cubicBezTo>
                    <a:pt x="4203" y="1580"/>
                    <a:pt x="4149" y="1464"/>
                    <a:pt x="4096" y="1348"/>
                  </a:cubicBezTo>
                  <a:lnTo>
                    <a:pt x="4283" y="1036"/>
                  </a:lnTo>
                  <a:lnTo>
                    <a:pt x="3560" y="313"/>
                  </a:lnTo>
                  <a:lnTo>
                    <a:pt x="3248" y="509"/>
                  </a:lnTo>
                  <a:cubicBezTo>
                    <a:pt x="3132" y="447"/>
                    <a:pt x="3016" y="393"/>
                    <a:pt x="2900" y="358"/>
                  </a:cubicBezTo>
                  <a:lnTo>
                    <a:pt x="2811" y="1"/>
                  </a:lnTo>
                  <a:lnTo>
                    <a:pt x="1794" y="1"/>
                  </a:lnTo>
                  <a:lnTo>
                    <a:pt x="1705" y="358"/>
                  </a:lnTo>
                  <a:cubicBezTo>
                    <a:pt x="1580" y="393"/>
                    <a:pt x="1464" y="447"/>
                    <a:pt x="1357" y="509"/>
                  </a:cubicBezTo>
                  <a:lnTo>
                    <a:pt x="1036" y="313"/>
                  </a:lnTo>
                  <a:lnTo>
                    <a:pt x="313" y="1036"/>
                  </a:lnTo>
                  <a:lnTo>
                    <a:pt x="509" y="1348"/>
                  </a:lnTo>
                  <a:cubicBezTo>
                    <a:pt x="447" y="1464"/>
                    <a:pt x="402" y="1580"/>
                    <a:pt x="367" y="1696"/>
                  </a:cubicBezTo>
                  <a:lnTo>
                    <a:pt x="1" y="1785"/>
                  </a:lnTo>
                  <a:lnTo>
                    <a:pt x="1" y="2802"/>
                  </a:lnTo>
                  <a:lnTo>
                    <a:pt x="367" y="2891"/>
                  </a:lnTo>
                  <a:cubicBezTo>
                    <a:pt x="402" y="3016"/>
                    <a:pt x="447" y="3132"/>
                    <a:pt x="509" y="3248"/>
                  </a:cubicBezTo>
                  <a:lnTo>
                    <a:pt x="313" y="3560"/>
                  </a:lnTo>
                  <a:lnTo>
                    <a:pt x="1036" y="4283"/>
                  </a:lnTo>
                  <a:lnTo>
                    <a:pt x="1357" y="4087"/>
                  </a:lnTo>
                  <a:cubicBezTo>
                    <a:pt x="1464" y="4149"/>
                    <a:pt x="1580" y="4194"/>
                    <a:pt x="1705" y="4238"/>
                  </a:cubicBezTo>
                  <a:lnTo>
                    <a:pt x="1794" y="4595"/>
                  </a:lnTo>
                  <a:lnTo>
                    <a:pt x="2811" y="4595"/>
                  </a:lnTo>
                  <a:lnTo>
                    <a:pt x="2900" y="4238"/>
                  </a:lnTo>
                  <a:cubicBezTo>
                    <a:pt x="3016" y="4194"/>
                    <a:pt x="3132" y="4149"/>
                    <a:pt x="3248" y="4087"/>
                  </a:cubicBezTo>
                  <a:lnTo>
                    <a:pt x="3560" y="4283"/>
                  </a:lnTo>
                  <a:lnTo>
                    <a:pt x="4283" y="3560"/>
                  </a:lnTo>
                  <a:lnTo>
                    <a:pt x="4096" y="3248"/>
                  </a:lnTo>
                  <a:cubicBezTo>
                    <a:pt x="4149" y="3132"/>
                    <a:pt x="4203" y="3016"/>
                    <a:pt x="4238" y="2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27"/>
          <p:cNvGrpSpPr/>
          <p:nvPr/>
        </p:nvGrpSpPr>
        <p:grpSpPr>
          <a:xfrm>
            <a:off x="6486043" y="1830475"/>
            <a:ext cx="498906" cy="490325"/>
            <a:chOff x="3966743" y="1547650"/>
            <a:chExt cx="498906" cy="490325"/>
          </a:xfrm>
        </p:grpSpPr>
        <p:sp>
          <p:nvSpPr>
            <p:cNvPr id="389" name="Google Shape;389;p27"/>
            <p:cNvSpPr/>
            <p:nvPr/>
          </p:nvSpPr>
          <p:spPr>
            <a:xfrm>
              <a:off x="4173075" y="1702850"/>
              <a:ext cx="28536" cy="28537"/>
            </a:xfrm>
            <a:custGeom>
              <a:rect b="b" l="l" r="r" t="t"/>
              <a:pathLst>
                <a:path extrusionOk="0" h="269" w="269">
                  <a:moveTo>
                    <a:pt x="1" y="1"/>
                  </a:moveTo>
                  <a:lnTo>
                    <a:pt x="268" y="1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3966743" y="1547650"/>
              <a:ext cx="498906" cy="490325"/>
            </a:xfrm>
            <a:custGeom>
              <a:rect b="b" l="l" r="r" t="t"/>
              <a:pathLst>
                <a:path extrusionOk="0" h="4622" w="4703">
                  <a:moveTo>
                    <a:pt x="2748" y="1196"/>
                  </a:moveTo>
                  <a:lnTo>
                    <a:pt x="3025" y="1196"/>
                  </a:lnTo>
                  <a:lnTo>
                    <a:pt x="3025" y="2267"/>
                  </a:lnTo>
                  <a:lnTo>
                    <a:pt x="2748" y="2267"/>
                  </a:lnTo>
                  <a:close/>
                  <a:moveTo>
                    <a:pt x="1946" y="1999"/>
                  </a:moveTo>
                  <a:lnTo>
                    <a:pt x="1946" y="2267"/>
                  </a:lnTo>
                  <a:lnTo>
                    <a:pt x="1678" y="2267"/>
                  </a:lnTo>
                  <a:lnTo>
                    <a:pt x="1678" y="1196"/>
                  </a:lnTo>
                  <a:lnTo>
                    <a:pt x="2481" y="1196"/>
                  </a:lnTo>
                  <a:lnTo>
                    <a:pt x="2481" y="2267"/>
                  </a:lnTo>
                  <a:lnTo>
                    <a:pt x="2213" y="2267"/>
                  </a:lnTo>
                  <a:lnTo>
                    <a:pt x="2213" y="1999"/>
                  </a:lnTo>
                  <a:close/>
                  <a:moveTo>
                    <a:pt x="4104" y="3533"/>
                  </a:moveTo>
                  <a:cubicBezTo>
                    <a:pt x="3855" y="3533"/>
                    <a:pt x="3641" y="3703"/>
                    <a:pt x="3587" y="3935"/>
                  </a:cubicBezTo>
                  <a:lnTo>
                    <a:pt x="2873" y="3935"/>
                  </a:lnTo>
                  <a:cubicBezTo>
                    <a:pt x="2820" y="3748"/>
                    <a:pt x="2668" y="3596"/>
                    <a:pt x="2481" y="3551"/>
                  </a:cubicBezTo>
                  <a:lnTo>
                    <a:pt x="2481" y="2900"/>
                  </a:lnTo>
                  <a:lnTo>
                    <a:pt x="3730" y="2900"/>
                  </a:lnTo>
                  <a:cubicBezTo>
                    <a:pt x="4167" y="2900"/>
                    <a:pt x="4577" y="2552"/>
                    <a:pt x="4631" y="2115"/>
                  </a:cubicBezTo>
                  <a:cubicBezTo>
                    <a:pt x="4702" y="1642"/>
                    <a:pt x="4399" y="1223"/>
                    <a:pt x="3962" y="1116"/>
                  </a:cubicBezTo>
                  <a:cubicBezTo>
                    <a:pt x="3908" y="491"/>
                    <a:pt x="3382" y="1"/>
                    <a:pt x="2748" y="1"/>
                  </a:cubicBezTo>
                  <a:cubicBezTo>
                    <a:pt x="2445" y="1"/>
                    <a:pt x="2160" y="117"/>
                    <a:pt x="1937" y="313"/>
                  </a:cubicBezTo>
                  <a:cubicBezTo>
                    <a:pt x="1856" y="286"/>
                    <a:pt x="1767" y="277"/>
                    <a:pt x="1669" y="277"/>
                  </a:cubicBezTo>
                  <a:cubicBezTo>
                    <a:pt x="1187" y="277"/>
                    <a:pt x="786" y="643"/>
                    <a:pt x="732" y="1116"/>
                  </a:cubicBezTo>
                  <a:cubicBezTo>
                    <a:pt x="295" y="1223"/>
                    <a:pt x="1" y="1642"/>
                    <a:pt x="63" y="2115"/>
                  </a:cubicBezTo>
                  <a:cubicBezTo>
                    <a:pt x="117" y="2543"/>
                    <a:pt x="527" y="2900"/>
                    <a:pt x="964" y="2900"/>
                  </a:cubicBezTo>
                  <a:lnTo>
                    <a:pt x="2213" y="2900"/>
                  </a:lnTo>
                  <a:lnTo>
                    <a:pt x="2213" y="3551"/>
                  </a:lnTo>
                  <a:cubicBezTo>
                    <a:pt x="2026" y="3596"/>
                    <a:pt x="1874" y="3748"/>
                    <a:pt x="1830" y="3935"/>
                  </a:cubicBezTo>
                  <a:lnTo>
                    <a:pt x="1107" y="3935"/>
                  </a:lnTo>
                  <a:cubicBezTo>
                    <a:pt x="1053" y="3694"/>
                    <a:pt x="821" y="3525"/>
                    <a:pt x="563" y="3533"/>
                  </a:cubicBezTo>
                  <a:cubicBezTo>
                    <a:pt x="286" y="3551"/>
                    <a:pt x="63" y="3774"/>
                    <a:pt x="54" y="4051"/>
                  </a:cubicBezTo>
                  <a:cubicBezTo>
                    <a:pt x="36" y="4354"/>
                    <a:pt x="286" y="4613"/>
                    <a:pt x="590" y="4613"/>
                  </a:cubicBezTo>
                  <a:cubicBezTo>
                    <a:pt x="839" y="4613"/>
                    <a:pt x="1053" y="4435"/>
                    <a:pt x="1107" y="4203"/>
                  </a:cubicBezTo>
                  <a:lnTo>
                    <a:pt x="1830" y="4203"/>
                  </a:lnTo>
                  <a:cubicBezTo>
                    <a:pt x="1883" y="4435"/>
                    <a:pt x="2097" y="4613"/>
                    <a:pt x="2347" y="4613"/>
                  </a:cubicBezTo>
                  <a:cubicBezTo>
                    <a:pt x="2597" y="4613"/>
                    <a:pt x="2811" y="4435"/>
                    <a:pt x="2873" y="4203"/>
                  </a:cubicBezTo>
                  <a:lnTo>
                    <a:pt x="3587" y="4203"/>
                  </a:lnTo>
                  <a:cubicBezTo>
                    <a:pt x="3649" y="4443"/>
                    <a:pt x="3872" y="4622"/>
                    <a:pt x="4131" y="4613"/>
                  </a:cubicBezTo>
                  <a:cubicBezTo>
                    <a:pt x="4408" y="4595"/>
                    <a:pt x="4631" y="4372"/>
                    <a:pt x="4640" y="4096"/>
                  </a:cubicBezTo>
                  <a:cubicBezTo>
                    <a:pt x="4658" y="3792"/>
                    <a:pt x="4408" y="3533"/>
                    <a:pt x="4104" y="353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Preprocessing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5653850" y="2740188"/>
            <a:ext cx="31338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Source Text:</a:t>
            </a:r>
            <a:r>
              <a:rPr lang="en" sz="800">
                <a:solidFill>
                  <a:schemeClr val="dk1"/>
                </a:solidFill>
              </a:rPr>
              <a:t> Mean is high, with a large number of documents over 5,000 words. </a:t>
            </a:r>
            <a:br>
              <a:rPr lang="en" sz="800">
                <a:solidFill>
                  <a:schemeClr val="dk1"/>
                </a:solidFill>
              </a:rPr>
            </a:br>
            <a:r>
              <a:rPr b="1" lang="en" sz="800">
                <a:solidFill>
                  <a:schemeClr val="dk1"/>
                </a:solidFill>
              </a:rPr>
              <a:t>Summary:</a:t>
            </a:r>
            <a:r>
              <a:rPr lang="en" sz="800">
                <a:solidFill>
                  <a:schemeClr val="dk1"/>
                </a:solidFill>
              </a:rPr>
              <a:t> Primarily concentrated between </a:t>
            </a:r>
            <a:r>
              <a:rPr b="1" lang="en" sz="800">
                <a:solidFill>
                  <a:schemeClr val="dk1"/>
                </a:solidFill>
              </a:rPr>
              <a:t>100 and 300 words</a:t>
            </a:r>
            <a:r>
              <a:rPr lang="en" sz="800">
                <a:solidFill>
                  <a:schemeClr val="dk1"/>
                </a:solidFill>
              </a:rPr>
              <a:t>.</a:t>
            </a:r>
            <a:endParaRPr b="1" sz="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3287525" y="1678900"/>
            <a:ext cx="2581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Train data size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816150" y="1678900"/>
            <a:ext cx="2323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Dataset Name 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99" name="Google Shape;399;p28"/>
          <p:cNvSpPr txBox="1"/>
          <p:nvPr/>
        </p:nvSpPr>
        <p:spPr>
          <a:xfrm>
            <a:off x="1333650" y="1221850"/>
            <a:ext cx="1288200" cy="4062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BillSum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3963773" y="1221850"/>
            <a:ext cx="1103400" cy="406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18949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1376277" y="2999207"/>
            <a:ext cx="3690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Preprocessing Strategy</a:t>
            </a:r>
            <a:endParaRPr b="1" sz="13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3401725" y="2593000"/>
            <a:ext cx="2227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CA test size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03" name="Google Shape;403;p28"/>
          <p:cNvSpPr txBox="1"/>
          <p:nvPr/>
        </p:nvSpPr>
        <p:spPr>
          <a:xfrm>
            <a:off x="725400" y="2593000"/>
            <a:ext cx="2504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Test data size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04" name="Google Shape;404;p28"/>
          <p:cNvSpPr txBox="1"/>
          <p:nvPr/>
        </p:nvSpPr>
        <p:spPr>
          <a:xfrm>
            <a:off x="1505261" y="2135949"/>
            <a:ext cx="945000" cy="406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3269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4042974" y="2135949"/>
            <a:ext cx="945000" cy="4062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1237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406" name="Google Shape;4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525" y="1155575"/>
            <a:ext cx="2406473" cy="130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7525" y="3296862"/>
            <a:ext cx="2406476" cy="130724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8"/>
          <p:cNvSpPr/>
          <p:nvPr/>
        </p:nvSpPr>
        <p:spPr>
          <a:xfrm flipH="1">
            <a:off x="3805075" y="3665100"/>
            <a:ext cx="1420800" cy="670800"/>
          </a:xfrm>
          <a:prstGeom prst="upArrowCallout">
            <a:avLst>
              <a:gd fmla="val 25000" name="adj1"/>
              <a:gd fmla="val 23097" name="adj2"/>
              <a:gd fmla="val 12474" name="adj3"/>
              <a:gd fmla="val 68581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Intelligent Condensation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28"/>
          <p:cNvSpPr/>
          <p:nvPr/>
        </p:nvSpPr>
        <p:spPr>
          <a:xfrm flipH="1">
            <a:off x="1267350" y="3615075"/>
            <a:ext cx="1420800" cy="670800"/>
          </a:xfrm>
          <a:prstGeom prst="upArrowCallout">
            <a:avLst>
              <a:gd fmla="val 25000" name="adj1"/>
              <a:gd fmla="val 23097" name="adj2"/>
              <a:gd fmla="val 12474" name="adj3"/>
              <a:gd fmla="val 68581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Simple Truncation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1539900" y="3296850"/>
            <a:ext cx="8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Baseline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4210350" y="3336425"/>
            <a:ext cx="7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Hybrid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2" name="Google Shape;412;p28"/>
          <p:cNvSpPr txBox="1"/>
          <p:nvPr/>
        </p:nvSpPr>
        <p:spPr>
          <a:xfrm>
            <a:off x="956550" y="4319500"/>
            <a:ext cx="204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input is tokenized and </a:t>
            </a:r>
            <a:r>
              <a:rPr b="1" lang="en" sz="1100">
                <a:solidFill>
                  <a:schemeClr val="dk1"/>
                </a:solidFill>
              </a:rPr>
              <a:t>truncated</a:t>
            </a:r>
            <a:r>
              <a:rPr lang="en" sz="1100">
                <a:solidFill>
                  <a:schemeClr val="dk1"/>
                </a:solidFill>
              </a:rPr>
              <a:t> at 512 tokens.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3008238" y="42346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The full text is pre-processed by a dedicated extractive filter to select </a:t>
            </a:r>
            <a:r>
              <a:rPr lang="en" sz="900">
                <a:solidFill>
                  <a:schemeClr val="dk1"/>
                </a:solidFill>
              </a:rPr>
              <a:t>around</a:t>
            </a: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dk1"/>
                </a:solidFill>
              </a:rPr>
              <a:t>20 key sentences</a:t>
            </a:r>
            <a:r>
              <a:rPr lang="en" sz="900">
                <a:solidFill>
                  <a:schemeClr val="dk1"/>
                </a:solidFill>
              </a:rPr>
              <a:t>. This </a:t>
            </a:r>
            <a:r>
              <a:rPr b="1" lang="en" sz="900">
                <a:solidFill>
                  <a:schemeClr val="dk1"/>
                </a:solidFill>
              </a:rPr>
              <a:t>condensed text</a:t>
            </a:r>
            <a:r>
              <a:rPr lang="en" sz="900">
                <a:solidFill>
                  <a:schemeClr val="dk1"/>
                </a:solidFill>
              </a:rPr>
              <a:t> is then tokenized and padded to 1024 tokens.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Prior Work and Citations</a:t>
            </a:r>
            <a:endParaRPr/>
          </a:p>
        </p:txBody>
      </p:sp>
      <p:sp>
        <p:nvSpPr>
          <p:cNvPr id="419" name="Google Shape;419;p29"/>
          <p:cNvSpPr txBox="1"/>
          <p:nvPr>
            <p:ph idx="1" type="subTitle"/>
          </p:nvPr>
        </p:nvSpPr>
        <p:spPr>
          <a:xfrm>
            <a:off x="3739825" y="1365900"/>
            <a:ext cx="4614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corpus, introduced by Kornilova and Eidelman, serves as the primary dataset for this task. Prior summarization research had not focused on legislation. These documents are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long, technical and complex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making it difficult for individuals to quickly process the key details</a:t>
            </a:r>
            <a:endParaRPr/>
          </a:p>
        </p:txBody>
      </p:sp>
      <p:sp>
        <p:nvSpPr>
          <p:cNvPr id="420" name="Google Shape;420;p29"/>
          <p:cNvSpPr txBox="1"/>
          <p:nvPr>
            <p:ph idx="2" type="subTitle"/>
          </p:nvPr>
        </p:nvSpPr>
        <p:spPr>
          <a:xfrm>
            <a:off x="3739825" y="2576200"/>
            <a:ext cx="4614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looked at prior work by Klaus et al. on European laws. They successfully used 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'Hybrid' method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where they first used standard algorithms like TextRank to pre-filter important sentences before summarizing. This directly validates our plan to use an extractive front-end to improve our model's input quality.</a:t>
            </a:r>
            <a:endParaRPr/>
          </a:p>
        </p:txBody>
      </p:sp>
      <p:sp>
        <p:nvSpPr>
          <p:cNvPr id="421" name="Google Shape;421;p29"/>
          <p:cNvSpPr txBox="1"/>
          <p:nvPr>
            <p:ph idx="3" type="subTitle"/>
          </p:nvPr>
        </p:nvSpPr>
        <p:spPr>
          <a:xfrm>
            <a:off x="3739834" y="3786497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selected BART as our baseline. It is a 'denoising' model designed specifically for text generation. In our main reference paper by Gurrapu et al., they explicitly concluded that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BART generated the most fluent and human-like summaries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compared to other models like T5, making it the strongest foundation for our experiments.</a:t>
            </a:r>
            <a:endParaRPr/>
          </a:p>
        </p:txBody>
      </p:sp>
      <p:sp>
        <p:nvSpPr>
          <p:cNvPr id="422" name="Google Shape;422;p29"/>
          <p:cNvSpPr txBox="1"/>
          <p:nvPr>
            <p:ph idx="5" type="subTitle"/>
          </p:nvPr>
        </p:nvSpPr>
        <p:spPr>
          <a:xfrm>
            <a:off x="1659000" y="13659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BillSum</a:t>
            </a:r>
            <a:endParaRPr/>
          </a:p>
        </p:txBody>
      </p:sp>
      <p:sp>
        <p:nvSpPr>
          <p:cNvPr id="423" name="Google Shape;423;p29"/>
          <p:cNvSpPr txBox="1"/>
          <p:nvPr>
            <p:ph idx="6" type="subTitle"/>
          </p:nvPr>
        </p:nvSpPr>
        <p:spPr>
          <a:xfrm>
            <a:off x="1531850" y="257618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Extractive Methods</a:t>
            </a:r>
            <a:endParaRPr/>
          </a:p>
        </p:txBody>
      </p:sp>
      <p:sp>
        <p:nvSpPr>
          <p:cNvPr id="424" name="Google Shape;424;p29"/>
          <p:cNvSpPr txBox="1"/>
          <p:nvPr>
            <p:ph idx="7" type="subTitle"/>
          </p:nvPr>
        </p:nvSpPr>
        <p:spPr>
          <a:xfrm>
            <a:off x="1569950" y="3686250"/>
            <a:ext cx="2802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BART Architecture</a:t>
            </a:r>
            <a:endParaRPr/>
          </a:p>
        </p:txBody>
      </p:sp>
      <p:grpSp>
        <p:nvGrpSpPr>
          <p:cNvPr id="425" name="Google Shape;425;p29"/>
          <p:cNvGrpSpPr/>
          <p:nvPr/>
        </p:nvGrpSpPr>
        <p:grpSpPr>
          <a:xfrm>
            <a:off x="1084923" y="1490130"/>
            <a:ext cx="335729" cy="380054"/>
            <a:chOff x="1144715" y="2144793"/>
            <a:chExt cx="430698" cy="487561"/>
          </a:xfrm>
        </p:grpSpPr>
        <p:sp>
          <p:nvSpPr>
            <p:cNvPr id="426" name="Google Shape;426;p29"/>
            <p:cNvSpPr/>
            <p:nvPr/>
          </p:nvSpPr>
          <p:spPr>
            <a:xfrm>
              <a:off x="1273394" y="2144793"/>
              <a:ext cx="72030" cy="199864"/>
            </a:xfrm>
            <a:custGeom>
              <a:rect b="b" l="l" r="r" t="t"/>
              <a:pathLst>
                <a:path extrusionOk="0" h="1884" w="679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1373749" y="2144793"/>
              <a:ext cx="72879" cy="199864"/>
            </a:xfrm>
            <a:custGeom>
              <a:rect b="b" l="l" r="r" t="t"/>
              <a:pathLst>
                <a:path extrusionOk="0" h="1884" w="687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1173039" y="2374782"/>
              <a:ext cx="373941" cy="114678"/>
            </a:xfrm>
            <a:custGeom>
              <a:rect b="b" l="l" r="r" t="t"/>
              <a:pathLst>
                <a:path extrusionOk="0" h="1081" w="3525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1173039" y="2517676"/>
              <a:ext cx="373941" cy="114678"/>
            </a:xfrm>
            <a:custGeom>
              <a:rect b="b" l="l" r="r" t="t"/>
              <a:pathLst>
                <a:path extrusionOk="0" h="1081" w="3525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1479726" y="2184574"/>
              <a:ext cx="38826" cy="122210"/>
            </a:xfrm>
            <a:custGeom>
              <a:rect b="b" l="l" r="r" t="t"/>
              <a:pathLst>
                <a:path extrusionOk="0" h="1152" w="366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531707" y="2162827"/>
              <a:ext cx="43706" cy="165705"/>
            </a:xfrm>
            <a:custGeom>
              <a:rect b="b" l="l" r="r" t="t"/>
              <a:pathLst>
                <a:path extrusionOk="0" h="1562" w="412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201470" y="2183619"/>
              <a:ext cx="38932" cy="122210"/>
            </a:xfrm>
            <a:custGeom>
              <a:rect b="b" l="l" r="r" t="t"/>
              <a:pathLst>
                <a:path extrusionOk="0" h="1152" w="367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1144715" y="2160918"/>
              <a:ext cx="42645" cy="166660"/>
            </a:xfrm>
            <a:custGeom>
              <a:rect b="b" l="l" r="r" t="t"/>
              <a:pathLst>
                <a:path extrusionOk="0" h="1571" w="402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29"/>
          <p:cNvGrpSpPr/>
          <p:nvPr/>
        </p:nvGrpSpPr>
        <p:grpSpPr>
          <a:xfrm>
            <a:off x="1062811" y="2700467"/>
            <a:ext cx="379967" cy="379976"/>
            <a:chOff x="1116285" y="2741087"/>
            <a:chExt cx="487449" cy="487461"/>
          </a:xfrm>
        </p:grpSpPr>
        <p:sp>
          <p:nvSpPr>
            <p:cNvPr id="435" name="Google Shape;435;p29"/>
            <p:cNvSpPr/>
            <p:nvPr/>
          </p:nvSpPr>
          <p:spPr>
            <a:xfrm>
              <a:off x="1331103" y="2912306"/>
              <a:ext cx="56860" cy="57922"/>
            </a:xfrm>
            <a:custGeom>
              <a:rect b="b" l="l" r="r" t="t"/>
              <a:pathLst>
                <a:path extrusionOk="0" h="546" w="536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1315933" y="2996536"/>
              <a:ext cx="88155" cy="60681"/>
            </a:xfrm>
            <a:custGeom>
              <a:rect b="b" l="l" r="r" t="t"/>
              <a:pathLst>
                <a:path extrusionOk="0" h="572" w="831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230749" y="2855551"/>
              <a:ext cx="258523" cy="258529"/>
            </a:xfrm>
            <a:custGeom>
              <a:rect b="b" l="l" r="r" t="t"/>
              <a:pathLst>
                <a:path extrusionOk="0" h="2437" w="2437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1116285" y="2741087"/>
              <a:ext cx="487449" cy="487461"/>
            </a:xfrm>
            <a:custGeom>
              <a:rect b="b" l="l" r="r" t="t"/>
              <a:pathLst>
                <a:path extrusionOk="0" h="4595" w="4595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29"/>
          <p:cNvGrpSpPr/>
          <p:nvPr/>
        </p:nvGrpSpPr>
        <p:grpSpPr>
          <a:xfrm>
            <a:off x="978912" y="3786508"/>
            <a:ext cx="377072" cy="379976"/>
            <a:chOff x="1118194" y="3337276"/>
            <a:chExt cx="483736" cy="487461"/>
          </a:xfrm>
        </p:grpSpPr>
        <p:sp>
          <p:nvSpPr>
            <p:cNvPr id="440" name="Google Shape;440;p29"/>
            <p:cNvSpPr/>
            <p:nvPr/>
          </p:nvSpPr>
          <p:spPr>
            <a:xfrm>
              <a:off x="1245918" y="3466909"/>
              <a:ext cx="228183" cy="229144"/>
            </a:xfrm>
            <a:custGeom>
              <a:rect b="b" l="l" r="r" t="t"/>
              <a:pathLst>
                <a:path extrusionOk="0" h="2160" w="2151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316888" y="3553049"/>
              <a:ext cx="28536" cy="28431"/>
            </a:xfrm>
            <a:custGeom>
              <a:rect b="b" l="l" r="r" t="t"/>
              <a:pathLst>
                <a:path extrusionOk="0" h="268" w="269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118194" y="3337276"/>
              <a:ext cx="483736" cy="487461"/>
            </a:xfrm>
            <a:custGeom>
              <a:rect b="b" l="l" r="r" t="t"/>
              <a:pathLst>
                <a:path extrusionOk="0" h="4595" w="456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/>
          <p:nvPr/>
        </p:nvSpPr>
        <p:spPr>
          <a:xfrm>
            <a:off x="719994" y="103085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"/>
          <p:cNvSpPr/>
          <p:nvPr/>
        </p:nvSpPr>
        <p:spPr>
          <a:xfrm>
            <a:off x="4487850" y="103085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719994" y="277132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4589250" y="277132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Gaps in Research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52" name="Google Shape;452;p30"/>
          <p:cNvSpPr txBox="1"/>
          <p:nvPr>
            <p:ph idx="2" type="title"/>
          </p:nvPr>
        </p:nvSpPr>
        <p:spPr>
          <a:xfrm>
            <a:off x="719994" y="1112100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3" name="Google Shape;453;p30"/>
          <p:cNvSpPr txBox="1"/>
          <p:nvPr>
            <p:ph idx="3" type="title"/>
          </p:nvPr>
        </p:nvSpPr>
        <p:spPr>
          <a:xfrm>
            <a:off x="719994" y="296497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4" name="Google Shape;454;p30"/>
          <p:cNvSpPr txBox="1"/>
          <p:nvPr>
            <p:ph idx="4" type="title"/>
          </p:nvPr>
        </p:nvSpPr>
        <p:spPr>
          <a:xfrm>
            <a:off x="4589238" y="1224504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5" name="Google Shape;455;p30"/>
          <p:cNvSpPr txBox="1"/>
          <p:nvPr>
            <p:ph idx="5" type="title"/>
          </p:nvPr>
        </p:nvSpPr>
        <p:spPr>
          <a:xfrm>
            <a:off x="4589238" y="296497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6" name="Google Shape;456;p30"/>
          <p:cNvSpPr txBox="1"/>
          <p:nvPr>
            <p:ph idx="1" type="subTitle"/>
          </p:nvPr>
        </p:nvSpPr>
        <p:spPr>
          <a:xfrm>
            <a:off x="1613700" y="1112100"/>
            <a:ext cx="29583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Loss Due to Truncation</a:t>
            </a:r>
            <a:endParaRPr/>
          </a:p>
        </p:txBody>
      </p:sp>
      <p:sp>
        <p:nvSpPr>
          <p:cNvPr id="457" name="Google Shape;457;p30"/>
          <p:cNvSpPr txBox="1"/>
          <p:nvPr>
            <p:ph idx="6" type="subTitle"/>
          </p:nvPr>
        </p:nvSpPr>
        <p:spPr>
          <a:xfrm>
            <a:off x="5544350" y="1112100"/>
            <a:ext cx="28866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Bias/Quality Issues in Data</a:t>
            </a:r>
            <a:endParaRPr/>
          </a:p>
        </p:txBody>
      </p:sp>
      <p:sp>
        <p:nvSpPr>
          <p:cNvPr id="458" name="Google Shape;458;p30"/>
          <p:cNvSpPr txBox="1"/>
          <p:nvPr>
            <p:ph idx="7" type="subTitle"/>
          </p:nvPr>
        </p:nvSpPr>
        <p:spPr>
          <a:xfrm>
            <a:off x="1613700" y="2964975"/>
            <a:ext cx="37005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Sub-optimal</a:t>
            </a:r>
            <a:r>
              <a:rPr lang="en" sz="1800"/>
              <a:t> Pure </a:t>
            </a:r>
            <a:r>
              <a:rPr lang="en" sz="1800"/>
              <a:t>Extractive Summaries</a:t>
            </a:r>
            <a:endParaRPr sz="1800"/>
          </a:p>
        </p:txBody>
      </p:sp>
      <p:sp>
        <p:nvSpPr>
          <p:cNvPr id="459" name="Google Shape;459;p30"/>
          <p:cNvSpPr txBox="1"/>
          <p:nvPr>
            <p:ph idx="8" type="subTitle"/>
          </p:nvPr>
        </p:nvSpPr>
        <p:spPr>
          <a:xfrm>
            <a:off x="5487650" y="2964975"/>
            <a:ext cx="32061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Underexplored Hybrid Architecture</a:t>
            </a:r>
            <a:endParaRPr/>
          </a:p>
        </p:txBody>
      </p:sp>
      <p:sp>
        <p:nvSpPr>
          <p:cNvPr id="460" name="Google Shape;460;p30"/>
          <p:cNvSpPr txBox="1"/>
          <p:nvPr/>
        </p:nvSpPr>
        <p:spPr>
          <a:xfrm>
            <a:off x="1697850" y="1769688"/>
            <a:ext cx="279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BART and similar abstractive models must truncate long legal documents  due to limited input token capacity (e.g. 512 tokens). This results in the </a:t>
            </a:r>
            <a:r>
              <a:rPr b="1" lang="en" sz="1000">
                <a:solidFill>
                  <a:schemeClr val="dk1"/>
                </a:solidFill>
              </a:rPr>
              <a:t>loss of critical facts</a:t>
            </a:r>
            <a:r>
              <a:rPr lang="en" sz="1000">
                <a:solidFill>
                  <a:schemeClr val="dk1"/>
                </a:solidFill>
              </a:rPr>
              <a:t> often found in the latter half of the legislation.</a:t>
            </a:r>
            <a:endParaRPr sz="1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592850" y="353550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While extractive methods (like TextRank in the Klaus et al. study) solve the context issue and ensure factual correctness, their output can </a:t>
            </a:r>
            <a:r>
              <a:rPr b="1" lang="en" sz="1100">
                <a:solidFill>
                  <a:schemeClr val="dk1"/>
                </a:solidFill>
              </a:rPr>
              <a:t>lack coherence and is not human-like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5487650" y="17041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The greedy algorithm used to create extractive summaries for training on the EUR-LexSum corpus resulted in a </a:t>
            </a:r>
            <a:r>
              <a:rPr b="1" lang="en" sz="1000">
                <a:solidFill>
                  <a:schemeClr val="dk1"/>
                </a:solidFill>
              </a:rPr>
              <a:t>highly imbalanced training set</a:t>
            </a:r>
            <a:r>
              <a:rPr lang="en" sz="1000">
                <a:solidFill>
                  <a:schemeClr val="dk1"/>
                </a:solidFill>
              </a:rPr>
              <a:t>, yielding only </a:t>
            </a:r>
            <a:r>
              <a:rPr b="1" lang="en" sz="1000">
                <a:solidFill>
                  <a:schemeClr val="dk1"/>
                </a:solidFill>
              </a:rPr>
              <a:t>21 sentences</a:t>
            </a:r>
            <a:r>
              <a:rPr lang="en" sz="1000">
                <a:solidFill>
                  <a:schemeClr val="dk1"/>
                </a:solidFill>
              </a:rPr>
              <a:t> instead of the desired 32. This lack of high-quality, balanced training data likely </a:t>
            </a:r>
            <a:r>
              <a:rPr b="1" lang="en" sz="1000">
                <a:solidFill>
                  <a:schemeClr val="dk1"/>
                </a:solidFill>
              </a:rPr>
              <a:t>limited the performance</a:t>
            </a:r>
            <a:r>
              <a:rPr lang="en" sz="1000">
                <a:solidFill>
                  <a:schemeClr val="dk1"/>
                </a:solidFill>
              </a:rPr>
              <a:t> of the fine-tuned Transformer models.</a:t>
            </a:r>
            <a:endParaRPr sz="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5487650" y="36225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Previous hybrid attempts (e.g., the simple </a:t>
            </a:r>
            <a:r>
              <a:rPr b="1" lang="en" sz="1000">
                <a:solidFill>
                  <a:schemeClr val="dk1"/>
                </a:solidFill>
              </a:rPr>
              <a:t>TextRank pre-filtering</a:t>
            </a:r>
            <a:r>
              <a:rPr lang="en" sz="1000">
                <a:solidFill>
                  <a:schemeClr val="dk1"/>
                </a:solidFill>
              </a:rPr>
              <a:t> in the Klaus et al. study) were basic and resulted in </a:t>
            </a:r>
            <a:r>
              <a:rPr b="1" lang="en" sz="1000">
                <a:solidFill>
                  <a:schemeClr val="dk1"/>
                </a:solidFill>
              </a:rPr>
              <a:t>performance losses</a:t>
            </a:r>
            <a:r>
              <a:rPr lang="en" sz="1000">
                <a:solidFill>
                  <a:schemeClr val="dk1"/>
                </a:solidFill>
              </a:rPr>
              <a:t> on certain ROUGE metrics, suggesting the need for more sophisticated neural combinations.</a:t>
            </a:r>
            <a:endParaRPr sz="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</a:t>
            </a:r>
            <a:endParaRPr/>
          </a:p>
        </p:txBody>
      </p:sp>
      <p:pic>
        <p:nvPicPr>
          <p:cNvPr id="469" name="Google Shape;469;p31"/>
          <p:cNvPicPr preferRelativeResize="0"/>
          <p:nvPr/>
        </p:nvPicPr>
        <p:blipFill rotWithShape="1">
          <a:blip r:embed="rId3">
            <a:alphaModFix/>
          </a:blip>
          <a:srcRect b="-2965" l="0" r="49997" t="0"/>
          <a:stretch/>
        </p:blipFill>
        <p:spPr>
          <a:xfrm>
            <a:off x="713100" y="1383100"/>
            <a:ext cx="1789475" cy="2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1"/>
          <p:cNvPicPr preferRelativeResize="0"/>
          <p:nvPr/>
        </p:nvPicPr>
        <p:blipFill rotWithShape="1">
          <a:blip r:embed="rId4">
            <a:alphaModFix/>
          </a:blip>
          <a:srcRect b="0" l="55532" r="6970" t="0"/>
          <a:stretch/>
        </p:blipFill>
        <p:spPr>
          <a:xfrm>
            <a:off x="3848250" y="1486050"/>
            <a:ext cx="1447500" cy="217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71" name="Google Shape;471;p31"/>
          <p:cNvSpPr txBox="1"/>
          <p:nvPr/>
        </p:nvSpPr>
        <p:spPr>
          <a:xfrm>
            <a:off x="4062600" y="1013800"/>
            <a:ext cx="101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BART Base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2665175" y="1383100"/>
            <a:ext cx="40665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" sz="1200">
                <a:solidFill>
                  <a:schemeClr val="dk1"/>
                </a:solidFill>
              </a:rPr>
              <a:t>The BillSum source text is fed directly into the BART tokenizer.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" sz="1100">
                <a:solidFill>
                  <a:schemeClr val="dk1"/>
                </a:solidFill>
              </a:rPr>
              <a:t>The tokenizer is forced to cut the document off at a hard limit of </a:t>
            </a:r>
            <a:r>
              <a:rPr b="1" lang="en" sz="1100">
                <a:solidFill>
                  <a:schemeClr val="dk1"/>
                </a:solidFill>
              </a:rPr>
              <a:t>512 tokens </a:t>
            </a:r>
            <a:r>
              <a:rPr lang="en" sz="1100">
                <a:solidFill>
                  <a:schemeClr val="dk1"/>
                </a:solidFill>
              </a:rPr>
              <a:t>(or the model's max context size).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" sz="1100">
                <a:solidFill>
                  <a:schemeClr val="dk1"/>
                </a:solidFill>
              </a:rPr>
              <a:t>The vast majority of BillSum documents are longer than 512 tokens. This results in the </a:t>
            </a:r>
            <a:r>
              <a:rPr b="1" lang="en" sz="1100">
                <a:solidFill>
                  <a:schemeClr val="dk1"/>
                </a:solidFill>
              </a:rPr>
              <a:t>loss of critical information and provisions</a:t>
            </a:r>
            <a:r>
              <a:rPr lang="en" sz="1100">
                <a:solidFill>
                  <a:schemeClr val="dk1"/>
                </a:solidFill>
              </a:rPr>
              <a:t> located after the truncation point.</a:t>
            </a:r>
            <a:endParaRPr b="1" sz="1100">
              <a:solidFill>
                <a:schemeClr val="dk1"/>
              </a:solidFill>
            </a:endParaRPr>
          </a:p>
        </p:txBody>
      </p:sp>
      <p:graphicFrame>
        <p:nvGraphicFramePr>
          <p:cNvPr id="473" name="Google Shape;473;p31"/>
          <p:cNvGraphicFramePr/>
          <p:nvPr/>
        </p:nvGraphicFramePr>
        <p:xfrm>
          <a:off x="2615775" y="336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894500"/>
                <a:gridCol w="773975"/>
                <a:gridCol w="780300"/>
                <a:gridCol w="869125"/>
                <a:gridCol w="748600"/>
              </a:tblGrid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Epoch</a:t>
                      </a:r>
                      <a:endParaRPr b="1" sz="700">
                        <a:solidFill>
                          <a:srgbClr val="1B1C1D"/>
                        </a:solidFill>
                        <a:highlight>
                          <a:schemeClr val="dk2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ROUGE-1 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ROUGE-L 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BERTScore 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BLEU Score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0.5013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</a:t>
                      </a: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3948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0.8887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26.57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31"/>
          <p:cNvGraphicFramePr/>
          <p:nvPr/>
        </p:nvGraphicFramePr>
        <p:xfrm>
          <a:off x="2615775" y="403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894500"/>
                <a:gridCol w="773950"/>
                <a:gridCol w="780300"/>
                <a:gridCol w="869125"/>
                <a:gridCol w="748600"/>
              </a:tblGrid>
              <a:tr h="23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Epoch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ROUGE-1 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ROUGE-L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BERTScore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BLEU Score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3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0.5046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0.3973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0.8894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27.18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5" name="Google Shape;475;p31"/>
          <p:cNvGraphicFramePr/>
          <p:nvPr/>
        </p:nvGraphicFramePr>
        <p:xfrm>
          <a:off x="6795475" y="114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1124125"/>
                <a:gridCol w="908575"/>
              </a:tblGrid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Parameter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Value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Input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512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Output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128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Batch Size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16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Epochs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Learning Rate (LR)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3 * 10 -5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Model</a:t>
            </a:r>
            <a:endParaRPr/>
          </a:p>
        </p:txBody>
      </p:sp>
      <p:pic>
        <p:nvPicPr>
          <p:cNvPr id="481" name="Google Shape;481;p32"/>
          <p:cNvPicPr preferRelativeResize="0"/>
          <p:nvPr/>
        </p:nvPicPr>
        <p:blipFill rotWithShape="1">
          <a:blip r:embed="rId3">
            <a:alphaModFix/>
          </a:blip>
          <a:srcRect b="-1482" l="53365" r="-4" t="-1482"/>
          <a:stretch/>
        </p:blipFill>
        <p:spPr>
          <a:xfrm>
            <a:off x="787675" y="1383100"/>
            <a:ext cx="1669125" cy="2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2"/>
          <p:cNvPicPr preferRelativeResize="0"/>
          <p:nvPr/>
        </p:nvPicPr>
        <p:blipFill rotWithShape="1">
          <a:blip r:embed="rId4">
            <a:alphaModFix/>
          </a:blip>
          <a:srcRect b="0" l="55532" r="6970" t="0"/>
          <a:stretch/>
        </p:blipFill>
        <p:spPr>
          <a:xfrm>
            <a:off x="3848250" y="1486050"/>
            <a:ext cx="1447500" cy="217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83" name="Google Shape;483;p32"/>
          <p:cNvSpPr txBox="1"/>
          <p:nvPr/>
        </p:nvSpPr>
        <p:spPr>
          <a:xfrm>
            <a:off x="3980100" y="1013800"/>
            <a:ext cx="11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BERT - Hybrid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4" name="Google Shape;484;p32"/>
          <p:cNvSpPr txBox="1"/>
          <p:nvPr/>
        </p:nvSpPr>
        <p:spPr>
          <a:xfrm>
            <a:off x="2497788" y="1383100"/>
            <a:ext cx="42567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Procedure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Find “Center”:</a:t>
            </a:r>
            <a:r>
              <a:rPr lang="en" sz="1100">
                <a:solidFill>
                  <a:schemeClr val="dk1"/>
                </a:solidFill>
              </a:rPr>
              <a:t> Reads </a:t>
            </a:r>
            <a:r>
              <a:rPr i="1" lang="en" sz="1100">
                <a:solidFill>
                  <a:schemeClr val="dk1"/>
                </a:solidFill>
              </a:rPr>
              <a:t>entire</a:t>
            </a:r>
            <a:r>
              <a:rPr lang="en" sz="1100">
                <a:solidFill>
                  <a:schemeClr val="dk1"/>
                </a:solidFill>
              </a:rPr>
              <a:t> long document and to understand overall context and find center for all the document's topics.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Score Sentences:</a:t>
            </a:r>
            <a:r>
              <a:rPr lang="en" sz="1100">
                <a:solidFill>
                  <a:schemeClr val="dk1"/>
                </a:solidFill>
              </a:rPr>
              <a:t> Scores every sentence based on how close they are to that "center."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Pick the Winners:</a:t>
            </a:r>
            <a:r>
              <a:rPr lang="en" sz="1100">
                <a:solidFill>
                  <a:schemeClr val="dk1"/>
                </a:solidFill>
              </a:rPr>
              <a:t> It returns the sentences with the highest scores (e.g., your 20 best sentences).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Fine Tuning</a:t>
            </a:r>
            <a:r>
              <a:rPr lang="en" sz="1100">
                <a:solidFill>
                  <a:schemeClr val="dk1"/>
                </a:solidFill>
              </a:rPr>
              <a:t>: Top sentences are then fine tuned by Bart to generate abstractive summary.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graphicFrame>
        <p:nvGraphicFramePr>
          <p:cNvPr id="485" name="Google Shape;485;p32"/>
          <p:cNvGraphicFramePr/>
          <p:nvPr/>
        </p:nvGraphicFramePr>
        <p:xfrm>
          <a:off x="2538738" y="35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894500"/>
                <a:gridCol w="773975"/>
                <a:gridCol w="780300"/>
                <a:gridCol w="869125"/>
                <a:gridCol w="748600"/>
              </a:tblGrid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Model</a:t>
                      </a:r>
                      <a:endParaRPr b="1" sz="700">
                        <a:solidFill>
                          <a:srgbClr val="1B1C1D"/>
                        </a:solidFill>
                        <a:highlight>
                          <a:schemeClr val="dk2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ROUGE-1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ROUGE-L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BERTScore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BLEU Score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BERT Hybrid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0.5091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0.4018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0.8917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26.63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6" name="Google Shape;486;p32"/>
          <p:cNvGraphicFramePr/>
          <p:nvPr/>
        </p:nvGraphicFramePr>
        <p:xfrm>
          <a:off x="6795475" y="114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1124125"/>
                <a:gridCol w="908575"/>
              </a:tblGrid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Parameter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Value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Input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1024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Output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128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Batch Size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Epochs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Learning Rate (LR)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5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* 10 -5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7" name="Google Shape;487;p32"/>
          <p:cNvSpPr txBox="1"/>
          <p:nvPr/>
        </p:nvSpPr>
        <p:spPr>
          <a:xfrm>
            <a:off x="1051050" y="4068489"/>
            <a:ext cx="715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filtered text contains the 20 most </a:t>
            </a:r>
            <a:r>
              <a:rPr b="1" lang="en" sz="1100">
                <a:solidFill>
                  <a:schemeClr val="dk1"/>
                </a:solidFill>
              </a:rPr>
              <a:t>factually informative</a:t>
            </a:r>
            <a:r>
              <a:rPr lang="en" sz="1100">
                <a:solidFill>
                  <a:schemeClr val="dk1"/>
                </a:solidFill>
              </a:rPr>
              <a:t> sentences, focusing on key provisions and changes.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Model</a:t>
            </a:r>
            <a:endParaRPr/>
          </a:p>
        </p:txBody>
      </p:sp>
      <p:pic>
        <p:nvPicPr>
          <p:cNvPr id="493" name="Google Shape;493;p33"/>
          <p:cNvPicPr preferRelativeResize="0"/>
          <p:nvPr/>
        </p:nvPicPr>
        <p:blipFill rotWithShape="1">
          <a:blip r:embed="rId3">
            <a:alphaModFix/>
          </a:blip>
          <a:srcRect b="-1482" l="53365" r="-4" t="-1482"/>
          <a:stretch/>
        </p:blipFill>
        <p:spPr>
          <a:xfrm>
            <a:off x="787675" y="1383100"/>
            <a:ext cx="1669125" cy="2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/>
          <p:cNvPicPr preferRelativeResize="0"/>
          <p:nvPr/>
        </p:nvPicPr>
        <p:blipFill rotWithShape="1">
          <a:blip r:embed="rId4">
            <a:alphaModFix/>
          </a:blip>
          <a:srcRect b="0" l="55532" r="6970" t="0"/>
          <a:stretch/>
        </p:blipFill>
        <p:spPr>
          <a:xfrm>
            <a:off x="3848250" y="1486050"/>
            <a:ext cx="1447500" cy="217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95" name="Google Shape;495;p33"/>
          <p:cNvSpPr txBox="1"/>
          <p:nvPr/>
        </p:nvSpPr>
        <p:spPr>
          <a:xfrm>
            <a:off x="4020525" y="1013800"/>
            <a:ext cx="12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SB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ERT - Hybrid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6" name="Google Shape;496;p33"/>
          <p:cNvSpPr txBox="1"/>
          <p:nvPr/>
        </p:nvSpPr>
        <p:spPr>
          <a:xfrm>
            <a:off x="2538750" y="1334700"/>
            <a:ext cx="41883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Procedure: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Find the Main Idea:</a:t>
            </a:r>
            <a:r>
              <a:rPr lang="en" sz="1100">
                <a:solidFill>
                  <a:schemeClr val="dk1"/>
                </a:solidFill>
              </a:rPr>
              <a:t> Read sentences to convert it into "vector" (a list of numbers) that represents its meaning then averages all vectors to create one "average vector"representing main idea.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Find Similar Sentences:</a:t>
            </a:r>
            <a:r>
              <a:rPr lang="en" sz="1100">
                <a:solidFill>
                  <a:schemeClr val="dk1"/>
                </a:solidFill>
              </a:rPr>
              <a:t> Uses a math calculation (cosine similarity) to find the sentences whose vectors are </a:t>
            </a:r>
            <a:r>
              <a:rPr i="1" lang="en" sz="1100">
                <a:solidFill>
                  <a:schemeClr val="dk1"/>
                </a:solidFill>
              </a:rPr>
              <a:t>closest</a:t>
            </a:r>
            <a:r>
              <a:rPr lang="en" sz="1100">
                <a:solidFill>
                  <a:schemeClr val="dk1"/>
                </a:solidFill>
              </a:rPr>
              <a:t> to the document's "average vector".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Pick the Winners:</a:t>
            </a:r>
            <a:r>
              <a:rPr lang="en" sz="1100">
                <a:solidFill>
                  <a:schemeClr val="dk1"/>
                </a:solidFill>
              </a:rPr>
              <a:t> Returns the top-scoring sentences.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Fine Tuning</a:t>
            </a:r>
            <a:r>
              <a:rPr lang="en" sz="1100">
                <a:solidFill>
                  <a:schemeClr val="dk1"/>
                </a:solidFill>
              </a:rPr>
              <a:t>: Top sentences are then fine tuned by Bart to generate abstractive summary.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graphicFrame>
        <p:nvGraphicFramePr>
          <p:cNvPr id="497" name="Google Shape;497;p33"/>
          <p:cNvGraphicFramePr/>
          <p:nvPr/>
        </p:nvGraphicFramePr>
        <p:xfrm>
          <a:off x="2538750" y="403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894500"/>
                <a:gridCol w="773975"/>
                <a:gridCol w="780300"/>
                <a:gridCol w="869125"/>
                <a:gridCol w="748600"/>
              </a:tblGrid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Model</a:t>
                      </a:r>
                      <a:endParaRPr b="1" sz="700">
                        <a:solidFill>
                          <a:srgbClr val="1B1C1D"/>
                        </a:solidFill>
                        <a:highlight>
                          <a:schemeClr val="dk2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ROUGE-1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ROUGE-L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BERTScore F1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1B1C1D"/>
                          </a:solidFill>
                        </a:rPr>
                        <a:t>BLEU Score</a:t>
                      </a:r>
                      <a:endParaRPr b="1" sz="7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SBERT Hybrid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0.5111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0.4013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0.8913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</a:rPr>
                        <a:t>27.03</a:t>
                      </a:r>
                      <a:endParaRPr b="1" sz="7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8" name="Google Shape;498;p33"/>
          <p:cNvGraphicFramePr/>
          <p:nvPr/>
        </p:nvGraphicFramePr>
        <p:xfrm>
          <a:off x="6795475" y="114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{0247D76C-263D-48BC-8304-A122773D84AD}</a:tableStyleId>
              </a:tblPr>
              <a:tblGrid>
                <a:gridCol w="1124125"/>
                <a:gridCol w="908575"/>
              </a:tblGrid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Parameter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Value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Input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1024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Max Output Length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128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Batch Size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Epochs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Learning Rate (LR)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5 * 10 -5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9" name="Google Shape;499;p33"/>
          <p:cNvSpPr txBox="1"/>
          <p:nvPr/>
        </p:nvSpPr>
        <p:spPr>
          <a:xfrm>
            <a:off x="1377450" y="4604100"/>
            <a:ext cx="651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The filtered text contains the 20 most </a:t>
            </a:r>
            <a:r>
              <a:rPr b="1" lang="en" sz="1100">
                <a:solidFill>
                  <a:schemeClr val="dk1"/>
                </a:solidFill>
              </a:rPr>
              <a:t>thematically central</a:t>
            </a:r>
            <a:r>
              <a:rPr lang="en" sz="1100">
                <a:solidFill>
                  <a:schemeClr val="dk1"/>
                </a:solidFill>
              </a:rPr>
              <a:t> sentences, forming a cohesive input.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05" name="Google Shape;505;p34"/>
          <p:cNvSpPr txBox="1"/>
          <p:nvPr>
            <p:ph idx="14" type="subTitle"/>
          </p:nvPr>
        </p:nvSpPr>
        <p:spPr>
          <a:xfrm>
            <a:off x="571950" y="1790175"/>
            <a:ext cx="8000100" cy="31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Hybrid Model Superiority: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Both hybrid models (BERT-Hybrid and SBERT-Hybrid) consistently outperformed the 512-token Baseline across all ROUGE metrics (ROUGE-1 F1 and ROUGE-L F1), validating the effectiveness of using an intelligent extractive step for long document summarization.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Highest Content Overlap (ROUGE-1):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SBERT-Hybrid model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achieved the highest content overlap with human-written summaries, scoring 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ROUGE-1 F1 of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0.5111.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Best Factual Recall (ROUGE-L):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BERT-Hybrid model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showed the highest recall for long factual sequences, with 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ROUGE-L F1 of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0.4018.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Best Semantic Equivalence (BERTScore):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BERT-Hybrid model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also achieved the highest semantic similarity to the reference summaries, with 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BERTScore F1 of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0.8917.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Semantic Centrality is Key: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The overall best-performing model, SBERT-Hybrid, used semantic centrality for pre-filtering, confirming that selecting the most thematically relevant sentences is the optimal strategy.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5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511" name="Google Shape;511;p35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Test on State Laws: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Currently, we only use US Federal laws. Future work should test our model on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California bills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dataset to see if it works equally well on different types of state-level legal documents.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Try Other Base Models: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We only used standard BART as our baseline. We should also apply our hybrid approach to other models, like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Longformer (LED)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T5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to see if it improves their performance too.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513" name="Google Shape;513;p35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4" name="Google Shape;514;p35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515" name="Google Shape;515;p35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35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5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5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9" name="Google Shape;519;p35"/>
              <p:cNvGrpSpPr/>
              <p:nvPr/>
            </p:nvGrpSpPr>
            <p:grpSpPr>
              <a:xfrm flipH="1" rot="2902359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520" name="Google Shape;520;p35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35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35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35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24" name="Google Shape;524;p35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35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35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6"/>
          <p:cNvSpPr txBox="1"/>
          <p:nvPr>
            <p:ph type="title"/>
          </p:nvPr>
        </p:nvSpPr>
        <p:spPr>
          <a:xfrm>
            <a:off x="575125" y="236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grpSp>
        <p:nvGrpSpPr>
          <p:cNvPr id="532" name="Google Shape;532;p36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533" name="Google Shape;533;p36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4" name="Google Shape;534;p36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535" name="Google Shape;535;p36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6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6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6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9" name="Google Shape;539;p36"/>
              <p:cNvGrpSpPr/>
              <p:nvPr/>
            </p:nvGrpSpPr>
            <p:grpSpPr>
              <a:xfrm flipH="1" rot="2902359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540" name="Google Shape;540;p36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36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36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36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44" name="Google Shape;544;p36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6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6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7" name="Google Shape;547;p36"/>
          <p:cNvSpPr txBox="1"/>
          <p:nvPr>
            <p:ph idx="1" type="body"/>
          </p:nvPr>
        </p:nvSpPr>
        <p:spPr>
          <a:xfrm>
            <a:off x="713100" y="787525"/>
            <a:ext cx="8318700" cy="4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Papers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[1] N. Gurrapu et al., "Effective Summarization Techniques for Legal Document Analysis," in 2025 4th International Conference on Sentiment Analysis and Deep Learning (ICSADL), 2025.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[2] S. Klaus et al., "Summarizing Legal Regulatory Documents using Transformers," in Proceedings of the 45th International ACM SIGIR Conference on Research and Development in Information Retrieval, 2022.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[3] M. Lewis et al., "BART: Denoising Sequence-to-Sequence Pre-training for Natural Language Generation, Translation, and Comprehension," in Proceedings of the 58th Annual Meeting of the Association for Computational Linguistics, 2020.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[4] M. Korn, "BillSum: A Corpus for Automatic Summarization of US Legislation," in Proceedings of the 2nd Workshop on New Frontiers in Summarization, 2019.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Dataset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BillSum -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 corpus used for automatic summarization of US Congressional and California state legislation, defining the task domain.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Model, Tools and techniques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Google Colab, BART, BERT, SBERT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37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553" name="Google Shape;553;p37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37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555" name="Google Shape;555;p37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7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7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7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9" name="Google Shape;559;p37"/>
              <p:cNvGrpSpPr/>
              <p:nvPr/>
            </p:nvGrpSpPr>
            <p:grpSpPr>
              <a:xfrm flipH="1" rot="2902359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560" name="Google Shape;560;p37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37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37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37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64" name="Google Shape;564;p37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37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37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7" name="Google Shape;567;p37"/>
          <p:cNvSpPr txBox="1"/>
          <p:nvPr>
            <p:ph idx="1" type="body"/>
          </p:nvPr>
        </p:nvSpPr>
        <p:spPr>
          <a:xfrm>
            <a:off x="2289150" y="1808875"/>
            <a:ext cx="54801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0">
                <a:latin typeface="Arial"/>
                <a:ea typeface="Arial"/>
                <a:cs typeface="Arial"/>
                <a:sym typeface="Arial"/>
              </a:rPr>
              <a:t>Thank You!!</a:t>
            </a:r>
            <a:br>
              <a:rPr b="1" lang="en" sz="6000">
                <a:latin typeface="Arial"/>
                <a:ea typeface="Arial"/>
                <a:cs typeface="Arial"/>
                <a:sym typeface="Arial"/>
              </a:rPr>
            </a:br>
            <a:br>
              <a:rPr b="1" lang="en" sz="6000">
                <a:latin typeface="Arial"/>
                <a:ea typeface="Arial"/>
                <a:cs typeface="Arial"/>
                <a:sym typeface="Arial"/>
              </a:rPr>
            </a:br>
            <a:endParaRPr b="1" sz="6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